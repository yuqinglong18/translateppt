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  <p:sldMasterId id="2147483676" r:id="rId3"/>
    <p:sldMasterId id="2147483689" r:id="rId4"/>
    <p:sldMasterId id="2147483702" r:id="rId5"/>
  </p:sldMasterIdLst>
  <p:notesMasterIdLst>
    <p:notesMasterId r:id="rId28"/>
  </p:notesMasterIdLst>
  <p:sldIdLst>
    <p:sldId id="258" r:id="rId6"/>
    <p:sldId id="259" r:id="rId7"/>
    <p:sldId id="257" r:id="rId8"/>
    <p:sldId id="335" r:id="rId9"/>
    <p:sldId id="352" r:id="rId10"/>
    <p:sldId id="368" r:id="rId11"/>
    <p:sldId id="369" r:id="rId12"/>
    <p:sldId id="274" r:id="rId13"/>
    <p:sldId id="354" r:id="rId14"/>
    <p:sldId id="355" r:id="rId15"/>
    <p:sldId id="356" r:id="rId16"/>
    <p:sldId id="370" r:id="rId17"/>
    <p:sldId id="358" r:id="rId18"/>
    <p:sldId id="371" r:id="rId19"/>
    <p:sldId id="359" r:id="rId20"/>
    <p:sldId id="357" r:id="rId21"/>
    <p:sldId id="360" r:id="rId22"/>
    <p:sldId id="361" r:id="rId23"/>
    <p:sldId id="362" r:id="rId24"/>
    <p:sldId id="365" r:id="rId25"/>
    <p:sldId id="363" r:id="rId26"/>
    <p:sldId id="364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7877" autoAdjust="0"/>
  </p:normalViewPr>
  <p:slideViewPr>
    <p:cSldViewPr snapToGrid="0">
      <p:cViewPr varScale="1">
        <p:scale>
          <a:sx n="111" d="100"/>
          <a:sy n="111" d="100"/>
        </p:scale>
        <p:origin x="1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F8CC7-286A-4FBB-946B-6F3BFBCED87D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234D2-BD49-4C90-999B-ABF038F1B5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分</a:t>
            </a:r>
            <a:r>
              <a:rPr lang="en-US" altLang="zh-CN" dirty="0"/>
              <a:t>40</a:t>
            </a:r>
            <a:r>
              <a:rPr lang="zh-CN" altLang="en-US" dirty="0"/>
              <a:t>秒的视频，关于</a:t>
            </a:r>
            <a:r>
              <a:rPr lang="en-US" altLang="zh-CN" dirty="0"/>
              <a:t>IBM Watson</a:t>
            </a:r>
            <a:r>
              <a:rPr lang="zh-CN" altLang="en-US" dirty="0"/>
              <a:t>战胜人类选手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2EBA0-E458-40E8-802E-5C171B90668C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617" y="399620"/>
            <a:ext cx="2519157" cy="991863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617" y="399620"/>
            <a:ext cx="2519157" cy="991863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617" y="399620"/>
            <a:ext cx="2519157" cy="991863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</p:spPr>
        <p:txBody>
          <a:bodyPr anchor="b">
            <a:normAutofit/>
          </a:bodyPr>
          <a:lstStyle>
            <a:lvl1pPr>
              <a:defRPr lang="zh-CN" altLang="en-US" sz="3600" b="0" kern="1200" cap="none" baseline="0" dirty="0">
                <a:solidFill>
                  <a:srgbClr val="660874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617" y="399620"/>
            <a:ext cx="2519157" cy="991863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</p:spPr>
        <p:txBody>
          <a:bodyPr anchor="b">
            <a:normAutofit/>
          </a:bodyPr>
          <a:lstStyle>
            <a:lvl1pPr>
              <a:defRPr lang="zh-CN" altLang="en-US" sz="6000" b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2" name="副标题 2"/>
          <p:cNvSpPr txBox="1"/>
          <p:nvPr/>
        </p:nvSpPr>
        <p:spPr>
          <a:xfrm>
            <a:off x="9341020" y="6011470"/>
            <a:ext cx="2337730" cy="45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4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0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chemeClr val="accent2"/>
                </a:solidFill>
              </a:rPr>
              <a:t>制作者：人名</a:t>
            </a:r>
            <a:r>
              <a:rPr lang="en-US" altLang="zh-CN" sz="1600" dirty="0">
                <a:solidFill>
                  <a:schemeClr val="accent2"/>
                </a:solidFill>
              </a:rPr>
              <a:t>/</a:t>
            </a:r>
            <a:r>
              <a:rPr lang="zh-CN" altLang="en-US" sz="1600" dirty="0">
                <a:solidFill>
                  <a:schemeClr val="accent2"/>
                </a:solidFill>
              </a:rPr>
              <a:t>单位名称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lang="zh-CN" altLang="en-US" sz="4000" b="1" kern="1200" cap="non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/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solidFill>
              <a:srgbClr val="6608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617" y="399620"/>
            <a:ext cx="2519157" cy="991863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963167" y="2023572"/>
            <a:ext cx="10265664" cy="1325563"/>
          </a:xfrm>
        </p:spPr>
        <p:txBody>
          <a:bodyPr anchor="b">
            <a:normAutofit/>
          </a:bodyPr>
          <a:lstStyle>
            <a:lvl1pPr>
              <a:defRPr lang="zh-CN" altLang="en-US" sz="6000" b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kumimoji="1" lang="zh-CN" altLang="en-US" sz="4000" b="1" kern="1200" cap="non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Rectangle 8"/>
          <p:cNvSpPr/>
          <p:nvPr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/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7" name="日期占位符 10"/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28" name="页脚占位符 11"/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9" name="灯片编号占位符 12"/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3169" y="1909598"/>
            <a:ext cx="10265664" cy="155684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5"/>
            <a:ext cx="5422391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5"/>
            <a:ext cx="5422392" cy="324263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1840986"/>
            <a:ext cx="5087075" cy="53600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1840986"/>
            <a:ext cx="5087073" cy="5533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516146"/>
            <a:ext cx="5393100" cy="2934999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>
            <a:spLocks noChangeAspect="1"/>
          </p:cNvSpPr>
          <p:nvPr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>
          <a:xfrm>
            <a:off x="7523545" y="6054522"/>
            <a:ext cx="2523280" cy="365125"/>
          </a:xfrm>
        </p:spPr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>
          <a:xfrm>
            <a:off x="833377" y="6054522"/>
            <a:ext cx="6585500" cy="36079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10151493" y="6054522"/>
            <a:ext cx="1203271" cy="365125"/>
          </a:xfrm>
        </p:spPr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15"/>
          <p:cNvSpPr>
            <a:spLocks noGrp="1"/>
          </p:cNvSpPr>
          <p:nvPr>
            <p:ph type="title"/>
          </p:nvPr>
        </p:nvSpPr>
        <p:spPr>
          <a:xfrm>
            <a:off x="1021463" y="4913486"/>
            <a:ext cx="10333301" cy="609039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23" name="Subtitle 2"/>
          <p:cNvSpPr>
            <a:spLocks noGrp="1"/>
          </p:cNvSpPr>
          <p:nvPr>
            <p:ph type="subTitle" idx="13"/>
          </p:nvPr>
        </p:nvSpPr>
        <p:spPr>
          <a:xfrm>
            <a:off x="1021463" y="5608156"/>
            <a:ext cx="10333300" cy="36073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3376" y="2111829"/>
            <a:ext cx="10521388" cy="3379068"/>
          </a:xfrm>
          <a:prstGeom prst="rect">
            <a:avLst/>
          </a:prstGeom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>
            <a:spLocks noChangeAspect="1"/>
          </p:cNvSpPr>
          <p:nvPr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/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rgbClr val="660874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 cap="none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6670" y="579706"/>
            <a:ext cx="82800" cy="896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7B3879E-DE3F-46AE-9601-CEC617E45663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7235" y="5597323"/>
            <a:ext cx="6581641" cy="360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895559-B5C9-44B2-B309-9E110ED0302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68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 cap="none" baseline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.xml"/><Relationship Id="rId7" Type="http://schemas.openxmlformats.org/officeDocument/2006/relationships/image" Target="../media/image3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51.xml"/><Relationship Id="rId4" Type="http://schemas.openxmlformats.org/officeDocument/2006/relationships/tags" Target="../tags/tag6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8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7.jpeg"/><Relationship Id="rId5" Type="http://schemas.openxmlformats.org/officeDocument/2006/relationships/slideLayout" Target="../slideLayouts/slideLayout43.xml"/><Relationship Id="rId4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9.jpeg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55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image" Target="../media/image11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10.jpe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slideLayout" Target="../slideLayouts/slideLayout43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3.jpe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slideLayout" Target="../slideLayouts/slideLayout43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5" Type="http://schemas.openxmlformats.org/officeDocument/2006/relationships/image" Target="../media/image4.png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13.png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10" Type="http://schemas.openxmlformats.org/officeDocument/2006/relationships/image" Target="../media/image14.png"/><Relationship Id="rId4" Type="http://schemas.openxmlformats.org/officeDocument/2006/relationships/tags" Target="../tags/tag53.xml"/><Relationship Id="rId9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image" Target="../media/image5.png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image" Target="../media/image15.png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slideLayout" Target="../slideLayouts/slideLayout43.xml"/><Relationship Id="rId5" Type="http://schemas.openxmlformats.org/officeDocument/2006/relationships/tags" Target="../tags/tag6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10" Type="http://schemas.openxmlformats.org/officeDocument/2006/relationships/image" Target="../media/image16.png"/><Relationship Id="rId4" Type="http://schemas.openxmlformats.org/officeDocument/2006/relationships/tags" Target="../tags/tag71.xml"/><Relationship Id="rId9" Type="http://schemas.openxmlformats.org/officeDocument/2006/relationships/slideLayout" Target="../slideLayouts/slideLayout4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image" Target="../media/image17.png"/><Relationship Id="rId5" Type="http://schemas.openxmlformats.org/officeDocument/2006/relationships/tags" Target="../tags/tag80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image" Target="../media/image18.png"/><Relationship Id="rId5" Type="http://schemas.openxmlformats.org/officeDocument/2006/relationships/tags" Target="../tags/tag89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01.xml"/><Relationship Id="rId3" Type="http://schemas.openxmlformats.org/officeDocument/2006/relationships/tags" Target="../tags/tag96.xml"/><Relationship Id="rId7" Type="http://schemas.openxmlformats.org/officeDocument/2006/relationships/tags" Target="../tags/tag100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image" Target="../media/image19.png"/><Relationship Id="rId5" Type="http://schemas.openxmlformats.org/officeDocument/2006/relationships/tags" Target="../tags/tag98.xml"/><Relationship Id="rId10" Type="http://schemas.openxmlformats.org/officeDocument/2006/relationships/slideLayout" Target="../slideLayouts/slideLayout43.xml"/><Relationship Id="rId4" Type="http://schemas.openxmlformats.org/officeDocument/2006/relationships/tags" Target="../tags/tag97.xml"/><Relationship Id="rId9" Type="http://schemas.openxmlformats.org/officeDocument/2006/relationships/tags" Target="../tags/tag10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image" Target="../media/image21.png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image" Target="../media/image20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slideLayout" Target="../slideLayouts/slideLayout43.xml"/><Relationship Id="rId5" Type="http://schemas.openxmlformats.org/officeDocument/2006/relationships/tags" Target="../tags/tag107.xml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7" Type="http://schemas.openxmlformats.org/officeDocument/2006/relationships/image" Target="../media/image5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F2329"/>
                </a:solidFill>
                <a:latin typeface="Noto Sans SC"/>
                <a:ea typeface="宋体" panose="02010600030101010101" pitchFamily="2" charset="-122"/>
                <a:sym typeface="+mn-ea"/>
              </a:rPr>
              <a:t>第一章：人工智能概述</a:t>
            </a:r>
            <a:endParaRPr lang="zh-CN" altLang="en-US" sz="6000" dirty="0"/>
          </a:p>
        </p:txBody>
      </p:sp>
      <p:sp>
        <p:nvSpPr>
          <p:cNvPr id="7" name="公司名"/>
          <p:cNvSpPr txBox="1"/>
          <p:nvPr>
            <p:custDataLst>
              <p:tags r:id="rId1"/>
            </p:custDataLst>
          </p:nvPr>
        </p:nvSpPr>
        <p:spPr>
          <a:xfrm>
            <a:off x="848551" y="478292"/>
            <a:ext cx="4516736" cy="378000"/>
          </a:xfrm>
          <a:prstGeom prst="rect">
            <a:avLst/>
          </a:prstGeom>
        </p:spPr>
        <p:txBody>
          <a:bodyPr/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accent1"/>
                </a:solidFill>
              </a:rPr>
              <a:t>《人工智能通识》高中版</a:t>
            </a:r>
          </a:p>
        </p:txBody>
      </p:sp>
      <p:pic>
        <p:nvPicPr>
          <p:cNvPr id="4" name="图片 3" descr="秦汉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875" y="478155"/>
            <a:ext cx="3329847" cy="802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593683" y="6452221"/>
            <a:ext cx="2337730" cy="456220"/>
          </a:xfrm>
        </p:spPr>
        <p:txBody>
          <a:bodyPr>
            <a:normAutofit fontScale="80000"/>
          </a:bodyPr>
          <a:lstStyle/>
          <a:p>
            <a:r>
              <a:rPr lang="zh-CN" altLang="en-US" dirty="0"/>
              <a:t>制作者：杨澜</a:t>
            </a:r>
            <a:r>
              <a:rPr lang="en-US" altLang="zh-CN" dirty="0"/>
              <a:t>/</a:t>
            </a:r>
            <a:r>
              <a:rPr lang="zh-CN" altLang="en-US" dirty="0"/>
              <a:t>秦汉学校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>
                <a:solidFill>
                  <a:srgbClr val="1F2329"/>
                </a:solidFill>
                <a:latin typeface="Noto Sans SC"/>
                <a:ea typeface="宋体" panose="02010600030101010101" pitchFamily="2" charset="-122"/>
              </a:rPr>
              <a:t>第八节：</a:t>
            </a:r>
            <a:r>
              <a:rPr lang="zh-CN" altLang="en-US" sz="6000" b="1" i="0" u="none" strike="noStrike" dirty="0">
                <a:solidFill>
                  <a:srgbClr val="1F2329"/>
                </a:solidFill>
                <a:latin typeface="Noto Sans SC"/>
                <a:ea typeface="宋体" panose="02010600030101010101" pitchFamily="2" charset="-122"/>
              </a:rPr>
              <a:t>人工智能发展史</a:t>
            </a:r>
            <a:r>
              <a:rPr lang="en-US" altLang="zh-CN" sz="6000" b="1" i="0" u="none" strike="noStrike" dirty="0">
                <a:solidFill>
                  <a:srgbClr val="1F2329"/>
                </a:solidFill>
                <a:latin typeface="Noto Sans SC"/>
                <a:ea typeface="宋体" panose="02010600030101010101" pitchFamily="2" charset="-122"/>
              </a:rPr>
              <a:t>（2）</a:t>
            </a:r>
          </a:p>
        </p:txBody>
      </p:sp>
      <p:sp>
        <p:nvSpPr>
          <p:cNvPr id="7" name="公司名"/>
          <p:cNvSpPr txBox="1"/>
          <p:nvPr>
            <p:custDataLst>
              <p:tags r:id="rId1"/>
            </p:custDataLst>
          </p:nvPr>
        </p:nvSpPr>
        <p:spPr>
          <a:xfrm>
            <a:off x="442825" y="677488"/>
            <a:ext cx="4516736" cy="378000"/>
          </a:xfrm>
          <a:prstGeom prst="rect">
            <a:avLst/>
          </a:prstGeom>
        </p:spPr>
        <p:txBody>
          <a:bodyPr/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368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64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accent1"/>
                </a:solidFill>
              </a:rPr>
              <a:t>《人工智能通识》高中版</a:t>
            </a:r>
          </a:p>
        </p:txBody>
      </p:sp>
      <p:pic>
        <p:nvPicPr>
          <p:cNvPr id="4" name="图片 3" descr="秦汉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0875" y="478155"/>
            <a:ext cx="3329847" cy="802800"/>
          </a:xfrm>
          <a:prstGeom prst="rect">
            <a:avLst/>
          </a:prstGeom>
        </p:spPr>
      </p:pic>
      <p:pic>
        <p:nvPicPr>
          <p:cNvPr id="20" name="IM 20"/>
          <p:cNvPicPr/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38250" y="3954145"/>
            <a:ext cx="2924810" cy="2168525"/>
          </a:xfrm>
          <a:prstGeom prst="rect">
            <a:avLst/>
          </a:prstGeom>
        </p:spPr>
      </p:pic>
      <p:pic>
        <p:nvPicPr>
          <p:cNvPr id="24" name="IM 24"/>
          <p:cNvPicPr/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278630" y="3954145"/>
            <a:ext cx="3649980" cy="2168525"/>
          </a:xfrm>
          <a:prstGeom prst="rect">
            <a:avLst/>
          </a:prstGeom>
        </p:spPr>
      </p:pic>
      <p:pic>
        <p:nvPicPr>
          <p:cNvPr id="38" name="IM 38"/>
          <p:cNvPicPr/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3954145"/>
            <a:ext cx="3463290" cy="2168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09858" y="1138654"/>
          <a:ext cx="11014003" cy="45536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014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852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 b="0" dirty="0"/>
                        <a:t>学习目标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110">
                <a:tc>
                  <a:txBody>
                    <a:bodyPr/>
                    <a:lstStyle/>
                    <a:p>
                      <a:pPr marL="457200" indent="-45720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Font typeface="+mj-ea"/>
                        <a:buAutoNum type="circleNumDbPlain"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理解现代人工智能发展的三大驱动力（数据、算力、算法）。</a:t>
                      </a:r>
                    </a:p>
                    <a:p>
                      <a:pPr marL="457200" indent="-45720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Font typeface="+mj-ea"/>
                        <a:buAutoNum type="circleNumDbPlain"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掌握深度学习、大模型的核心特点及其应用场景。</a:t>
                      </a:r>
                    </a:p>
                    <a:p>
                      <a:pPr marL="457200" indent="-457200" algn="just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Font typeface="+mj-ea"/>
                        <a:buAutoNum type="circleNumDbPlain"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了解AI发展史上的标志性事件（深蓝、AlphaGo、AlphaFold、ChatGPT）。 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</p:spPr>
        <p:txBody>
          <a:bodyPr>
            <a:normAutofit lnSpcReduction="20000"/>
          </a:bodyPr>
          <a:lstStyle/>
          <a:p>
            <a:r>
              <a:rPr lang="zh-CN" altLang="en-US" dirty="0">
                <a:sym typeface="+mn-ea"/>
              </a:rPr>
              <a:t>一</a:t>
            </a:r>
            <a:r>
              <a:rPr kumimoji="1" lang="zh-CN" altLang="en-US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OPPOSans H" panose="00020600040101010101" charset="-122"/>
                <a:ea typeface="OPPOSans H" panose="00020600040101010101" charset="-122"/>
                <a:cs typeface="OPPOSans H" panose="00020600040101010101" charset="-122"/>
                <a:sym typeface="+mn-ea"/>
              </a:rPr>
              <a:t>、</a:t>
            </a:r>
            <a:r>
              <a:rPr lang="zh-CN" altLang="en-US" dirty="0">
                <a:sym typeface="+mn-ea"/>
              </a:rPr>
              <a:t>务实与复苏（1993-2011）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</a:t>
            </a:r>
            <a:r>
              <a:rPr lang="zh-CN" altLang="en-US" dirty="0">
                <a:sym typeface="+mn-ea"/>
              </a:rPr>
              <a:t>深度学习时代（2011-2020）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</a:t>
            </a:r>
            <a:r>
              <a:rPr lang="zh-CN" altLang="en-US" dirty="0">
                <a:sym typeface="+mn-ea"/>
              </a:rPr>
              <a:t>大模型时代（2020－今）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</a:t>
            </a:r>
            <a:r>
              <a:rPr lang="zh-CN" altLang="en-US" dirty="0">
                <a:sym typeface="+mn-ea"/>
              </a:rPr>
              <a:t>总结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rgbClr val="1F2329"/>
                </a:solidFill>
                <a:latin typeface="Noto Sans SC"/>
              </a:rPr>
              <a:t>情境创设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630" y="2221865"/>
            <a:ext cx="4572635" cy="4572635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 rot="5400000">
            <a:off x="2664460" y="567690"/>
            <a:ext cx="3569335" cy="5814060"/>
          </a:xfrm>
          <a:custGeom>
            <a:avLst/>
            <a:gdLst>
              <a:gd name="connsiteX0" fmla="*/ 0 w 3589020"/>
              <a:gd name="connsiteY0" fmla="*/ 4257435 h 4855617"/>
              <a:gd name="connsiteX1" fmla="*/ 0 w 3589020"/>
              <a:gd name="connsiteY1" fmla="*/ 923709 h 4855617"/>
              <a:gd name="connsiteX2" fmla="*/ 598182 w 3589020"/>
              <a:gd name="connsiteY2" fmla="*/ 325527 h 4855617"/>
              <a:gd name="connsiteX3" fmla="*/ 1554241 w 3589020"/>
              <a:gd name="connsiteY3" fmla="*/ 325527 h 4855617"/>
              <a:gd name="connsiteX4" fmla="*/ 1794510 w 3589020"/>
              <a:gd name="connsiteY4" fmla="*/ 0 h 4855617"/>
              <a:gd name="connsiteX5" fmla="*/ 2034779 w 3589020"/>
              <a:gd name="connsiteY5" fmla="*/ 325527 h 4855617"/>
              <a:gd name="connsiteX6" fmla="*/ 2990838 w 3589020"/>
              <a:gd name="connsiteY6" fmla="*/ 325527 h 4855617"/>
              <a:gd name="connsiteX7" fmla="*/ 3589020 w 3589020"/>
              <a:gd name="connsiteY7" fmla="*/ 923709 h 4855617"/>
              <a:gd name="connsiteX8" fmla="*/ 3589020 w 3589020"/>
              <a:gd name="connsiteY8" fmla="*/ 4257435 h 4855617"/>
              <a:gd name="connsiteX9" fmla="*/ 2990838 w 3589020"/>
              <a:gd name="connsiteY9" fmla="*/ 4855617 h 4855617"/>
              <a:gd name="connsiteX10" fmla="*/ 598182 w 3589020"/>
              <a:gd name="connsiteY10" fmla="*/ 4855617 h 4855617"/>
              <a:gd name="connsiteX11" fmla="*/ 0 w 3589020"/>
              <a:gd name="connsiteY11" fmla="*/ 4257435 h 4855617"/>
            </a:gdLst>
            <a:ahLst/>
            <a:cxnLst/>
            <a:rect l="l" t="t" r="r" b="b"/>
            <a:pathLst>
              <a:path w="3589020" h="4855617">
                <a:moveTo>
                  <a:pt x="0" y="4257435"/>
                </a:moveTo>
                <a:lnTo>
                  <a:pt x="0" y="923709"/>
                </a:lnTo>
                <a:cubicBezTo>
                  <a:pt x="0" y="593342"/>
                  <a:pt x="267815" y="325527"/>
                  <a:pt x="598182" y="325527"/>
                </a:cubicBezTo>
                <a:lnTo>
                  <a:pt x="1554241" y="325527"/>
                </a:lnTo>
                <a:lnTo>
                  <a:pt x="1794510" y="0"/>
                </a:lnTo>
                <a:lnTo>
                  <a:pt x="2034779" y="325527"/>
                </a:lnTo>
                <a:lnTo>
                  <a:pt x="2990838" y="325527"/>
                </a:lnTo>
                <a:cubicBezTo>
                  <a:pt x="3321205" y="325527"/>
                  <a:pt x="3589020" y="593342"/>
                  <a:pt x="3589020" y="923709"/>
                </a:cubicBezTo>
                <a:lnTo>
                  <a:pt x="3589020" y="4257435"/>
                </a:lnTo>
                <a:cubicBezTo>
                  <a:pt x="3589020" y="4587802"/>
                  <a:pt x="3321205" y="4855617"/>
                  <a:pt x="2990838" y="4855617"/>
                </a:cubicBezTo>
                <a:lnTo>
                  <a:pt x="598182" y="4855617"/>
                </a:lnTo>
                <a:cubicBezTo>
                  <a:pt x="267815" y="4855617"/>
                  <a:pt x="0" y="4587802"/>
                  <a:pt x="0" y="4257435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39495" y="2185670"/>
            <a:ext cx="5478780" cy="2546985"/>
          </a:xfrm>
          <a:prstGeom prst="round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sz="half" idx="1"/>
          </p:nvPr>
        </p:nvSpPr>
        <p:spPr>
          <a:xfrm>
            <a:off x="1370330" y="2395220"/>
            <a:ext cx="5057775" cy="2940050"/>
          </a:xfrm>
        </p:spPr>
        <p:txBody>
          <a:bodyPr>
            <a:normAutofit/>
          </a:bodyPr>
          <a:lstStyle/>
          <a:p>
            <a:pPr algn="just"/>
            <a:r>
              <a:rPr lang="zh-CN" sz="3200"/>
              <a:t>你用过哪些AI工具？（如ChatGPT、文心一言、Suno音乐生成</a:t>
            </a:r>
            <a:r>
              <a:rPr lang="en-US" altLang="zh-CN" sz="3200"/>
              <a:t>？</a:t>
            </a:r>
            <a:r>
              <a:rPr lang="zh-CN" altLang="en-US" sz="3200"/>
              <a:t>简单介绍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务实与复苏（1993-2011）</a:t>
            </a:r>
            <a:endParaRPr lang="en-US" altLang="zh-CN" dirty="0" err="1">
              <a:solidFill>
                <a:srgbClr val="1F2329"/>
              </a:solidFill>
              <a:latin typeface="Noto Sans SC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966" y="1614209"/>
            <a:ext cx="9945672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0505" indent="-230505" algn="just"/>
            <a:r>
              <a:rPr lang="zh-CN" altLang="en-US" dirty="0"/>
              <a:t>经过</a:t>
            </a:r>
            <a:r>
              <a:rPr lang="en-US" altLang="zh-CN" dirty="0"/>
              <a:t>80</a:t>
            </a:r>
            <a:r>
              <a:rPr lang="zh-CN" altLang="en-US" dirty="0"/>
              <a:t>年代末和</a:t>
            </a:r>
            <a:r>
              <a:rPr lang="en-US" altLang="zh-CN" dirty="0"/>
              <a:t>90</a:t>
            </a:r>
            <a:r>
              <a:rPr lang="zh-CN" altLang="en-US" dirty="0"/>
              <a:t>年代初的反思，一大批脚踏实地的研究者脱去</a:t>
            </a:r>
            <a:r>
              <a:rPr lang="en-US" altLang="zh-CN" dirty="0"/>
              <a:t>AI</a:t>
            </a:r>
            <a:r>
              <a:rPr lang="zh-CN" altLang="en-US" dirty="0"/>
              <a:t>鲜亮的外衣，开始认真研究特定领域内特定问题的解决方法，在语音识别、图像识别、自然语言处理等领域取得了一系列突破。</a:t>
            </a:r>
            <a:endParaRPr lang="en-US" altLang="zh-CN" dirty="0"/>
          </a:p>
          <a:p>
            <a:pPr marL="230505" indent="-230505" algn="just"/>
            <a:r>
              <a:rPr lang="zh-CN" altLang="en-US" dirty="0"/>
              <a:t>在这一过程中，研究者越来越意识到数据的重要性和统计模型的价值，贝叶斯模型和神经网络越来越受到重视，机器学习成为</a:t>
            </a:r>
            <a:r>
              <a:rPr lang="en-US" altLang="zh-CN" dirty="0"/>
              <a:t>AI</a:t>
            </a:r>
            <a:r>
              <a:rPr lang="zh-CN" altLang="en-US" dirty="0"/>
              <a:t>的主流方法。</a:t>
            </a:r>
            <a:endParaRPr lang="en-US" altLang="zh-CN" dirty="0"/>
          </a:p>
        </p:txBody>
      </p:sp>
      <p:pic>
        <p:nvPicPr>
          <p:cNvPr id="2" name="Picture 10" descr="IBM |创始、历史和产品|大英百科全书yabo亚博网站首页手机- yabo亚博88官网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509" y="3993716"/>
            <a:ext cx="3044677" cy="196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752399" y="6097227"/>
            <a:ext cx="3104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1997</a:t>
            </a:r>
            <a:r>
              <a:rPr lang="zh-CN" altLang="en-US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年，</a:t>
            </a:r>
            <a:r>
              <a:rPr lang="en-US" altLang="zh-CN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IBM</a:t>
            </a:r>
            <a:r>
              <a:rPr lang="zh-CN" altLang="en-US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深蓝战胜国际象棋世界冠军卡斯帕罗夫。</a:t>
            </a:r>
          </a:p>
        </p:txBody>
      </p:sp>
      <p:pic>
        <p:nvPicPr>
          <p:cNvPr id="7" name="Picture 12" descr="当IBM 沃森的理想照进现实(上）——How it works - 知乎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0282" y="3996216"/>
            <a:ext cx="3800032" cy="1969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369660" y="6097227"/>
            <a:ext cx="32812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2011</a:t>
            </a:r>
            <a:r>
              <a:rPr lang="zh-CN" altLang="en-US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年，</a:t>
            </a:r>
            <a:r>
              <a:rPr lang="en-US" altLang="zh-CN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IBM</a:t>
            </a:r>
            <a:r>
              <a:rPr lang="zh-CN" altLang="en-US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Watson</a:t>
            </a:r>
            <a:r>
              <a:rPr lang="zh-CN" altLang="en-US" sz="1600" dirty="0">
                <a:solidFill>
                  <a:srgbClr val="202122"/>
                </a:solidFill>
                <a:latin typeface="微软雅黑" panose="020B0503020204020204" pitchFamily="34" charset="-122"/>
              </a:rPr>
              <a:t>在危险边缘游戏中战胜人类选手。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AA89EC-6B38-409E-BD23-99513F836D0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务实与复苏（1993-2011）</a:t>
            </a:r>
            <a:endParaRPr lang="en-US" altLang="zh-CN" dirty="0" err="1">
              <a:solidFill>
                <a:srgbClr val="1F2329"/>
              </a:solidFill>
              <a:latin typeface="Noto Sans SC"/>
            </a:endParaRP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454910"/>
            <a:ext cx="5774055" cy="4225290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724150"/>
            <a:ext cx="5353050" cy="39560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90年代以后，随着互联网和移动互联网的普及，人们开始在网络中制作、共享大量数据，包括新闻网页、知识分享社区、社交媒体、公开论文库等。这些数据的积累为人工智能的发展提供了丰富的学习素材。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与此同时，计算机性能也稳步提升，摩尔定律指出集成电路上可容纳的晶体管数目，每隔约两年便会增加一倍，这一规律推动了计算机速度提升和内存容量的增加，进而为人工智能的发展提供了强大的计算资源。</a:t>
            </a: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64155" y="394301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22970" y="400183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72822" y="425711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数据的积累和硬件的提升</a:t>
            </a:r>
            <a:endParaRPr kumimoji="1" lang="zh-CN" altLang="en-US"/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9" name="IM 10"/>
          <p:cNvPicPr/>
          <p:nvPr>
            <p:custDataLst>
              <p:tags r:id="rId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102475" y="2185035"/>
            <a:ext cx="4689475" cy="3930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务实与复苏（1993-2011）</a:t>
            </a:r>
            <a:endParaRPr lang="en-US" altLang="zh-CN" dirty="0" err="1">
              <a:solidFill>
                <a:srgbClr val="1F2329"/>
              </a:solidFill>
              <a:latin typeface="Noto Sans SC"/>
            </a:endParaRP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454910"/>
            <a:ext cx="7631430" cy="4140835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724150"/>
            <a:ext cx="709612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机器学习是指让机器从数据中自主学习知识和规律的方法。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在90年代以后，随着数据积累和计算机硬件的进步，机器学习才真正展现出其应用的能力。在这一时期，概率统计模型和神经网络成为两种最主要的机器学习方法。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概率统计模型可以认为是符号系统的扩展，用概率来描述事件的不确定性以及不同事件之间的相关性。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人工神经网络则模拟大脑的工作机制，通过将神经元互联成网络来实现功能。虽然每个神经元都很简单，但当这些神经元以复杂的方式连接在一起后，就可以实现极为复杂的功能。</a:t>
            </a:r>
            <a:endParaRPr lang="zh-CN" altLang="en-US" sz="20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64155" y="368774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22970" y="374656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72822" y="400184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机器学习方法</a:t>
            </a: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14" name="IM 14"/>
          <p:cNvPicPr/>
          <p:nvPr>
            <p:custDataLst>
              <p:tags r:id="rId9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105265" y="1255078"/>
            <a:ext cx="2955290" cy="2099945"/>
          </a:xfrm>
          <a:prstGeom prst="rect">
            <a:avLst/>
          </a:prstGeom>
        </p:spPr>
      </p:pic>
      <p:pic>
        <p:nvPicPr>
          <p:cNvPr id="2" name="IM 16"/>
          <p:cNvPicPr/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9096375" y="4045903"/>
            <a:ext cx="2964180" cy="2549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务实与复苏（1993-2011）</a:t>
            </a:r>
            <a:endParaRPr lang="en-US" altLang="zh-CN" dirty="0" err="1">
              <a:solidFill>
                <a:srgbClr val="1F2329"/>
              </a:solidFill>
              <a:latin typeface="Noto Sans SC"/>
            </a:endParaRP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324735"/>
            <a:ext cx="6275705" cy="4456430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593975"/>
            <a:ext cx="577532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在这一时期，人工智能取得了许多标志性成就。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例如，1997年IBM的深蓝计算机战胜了国际象棋世界冠军加里·卡斯帕罗夫，证明了机器在规则明确的棋类游戏中有可能超过人类顶尖棋手。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2005年，斯坦福大学的无人驾驶汽车Stanley在DARPA举办的无人驾驶汽车挑战赛中赢得了第一名，推动了无人驾驶技术的快速发展。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2011年，IBM的沃森AI系统在美国电视节目“危险边缘”中击败了两位人类冠军选手，展示了自然语言处理技术的巨大进步。</a:t>
            </a:r>
            <a:endParaRPr lang="zh-CN" altLang="en-US" sz="20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64155" y="3557573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22970" y="3616388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72822" y="3871673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zh-CN" altLang="en-US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代表性成就</a:t>
            </a: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0" name="IM 20"/>
          <p:cNvPicPr/>
          <p:nvPr>
            <p:custDataLst>
              <p:tags r:id="rId9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813165" y="365125"/>
            <a:ext cx="2924810" cy="2168525"/>
          </a:xfrm>
          <a:prstGeom prst="rect">
            <a:avLst/>
          </a:prstGeom>
        </p:spPr>
      </p:pic>
      <p:pic>
        <p:nvPicPr>
          <p:cNvPr id="22" name="IM 22"/>
          <p:cNvPicPr/>
          <p:nvPr>
            <p:custDataLst>
              <p:tags r:id="rId10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7668895" y="2678430"/>
            <a:ext cx="2924175" cy="2007870"/>
          </a:xfrm>
          <a:prstGeom prst="rect">
            <a:avLst/>
          </a:prstGeom>
        </p:spPr>
      </p:pic>
      <p:pic>
        <p:nvPicPr>
          <p:cNvPr id="24" name="IM 24"/>
          <p:cNvPicPr/>
          <p:nvPr>
            <p:custDataLst>
              <p:tags r:id="rId11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291195" y="4838065"/>
            <a:ext cx="3446780" cy="16694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深度学习时代（2011-2020）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454910"/>
            <a:ext cx="6275705" cy="3573780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724150"/>
            <a:ext cx="577532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2012年，杰弗里·辛顿及其团队在ImageNet大规模图像识别挑战赛中首次应用深度学习技术，训练了一个称为AlexNet的8层卷积神经网络，将错误率一举降低了10%。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这一突破标志着深度学习方法在计算机视觉领域的崛起。经过5年的研究，在ImageNet上的图像识别性能降到2.25%，甚至高于人类的识别精度（5.1%）。</a:t>
            </a:r>
            <a:endParaRPr lang="zh-CN" altLang="en-US" sz="20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64155" y="352137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22970" y="358019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72822" y="383547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图像识别中的突破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2" name="IM 32"/>
          <p:cNvPicPr/>
          <p:nvPr>
            <p:custDataLst>
              <p:tags r:id="rId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604125" y="2857500"/>
            <a:ext cx="4226560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深度学习时代（2011-2020）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723265" y="2454910"/>
            <a:ext cx="4530090" cy="3826510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989330" y="2724150"/>
            <a:ext cx="4029710" cy="27736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AlexNet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的成功不仅是机器视觉领域的里程碑，也是深度学习的里程碑，极大提升了研究者对深度学习的信心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不久以后，深度学习在人脸识别、语音识别、自然语言理解等各个领域阔步前进，取得了一个又一个辉煌的成就，开启了人工智能的新篇章</a:t>
            </a: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250135" y="310862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308950" y="316744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558802" y="342272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图像识别中的突破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2" name="图片 1"/>
          <p:cNvPicPr/>
          <p:nvPr/>
        </p:nvPicPr>
        <p:blipFill>
          <a:blip r:embed="rId10"/>
          <a:stretch>
            <a:fillRect/>
          </a:stretch>
        </p:blipFill>
        <p:spPr>
          <a:xfrm>
            <a:off x="5531485" y="1466850"/>
            <a:ext cx="6515100" cy="5236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深度学习时代（2011-2020）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707005"/>
            <a:ext cx="6275705" cy="3120390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976245"/>
            <a:ext cx="577532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2016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DeepMind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AlphaGo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在围棋对弈中取得辉煌战绩，进一步激发起人们对人工智能的关注。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AlphaGo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战胜柯洁，并被中国围棋协会授予职业围棋九段称号，不过聂卫平九段称它的水平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至少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</a:t>
            </a:r>
            <a:r>
              <a:rPr lang="en-US" altLang="zh-CN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80665" y="3363263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39480" y="3422078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89332" y="3677363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人机对弈的新进展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36" name="IM 36"/>
          <p:cNvPicPr/>
          <p:nvPr>
            <p:custDataLst>
              <p:tags r:id="rId9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828280" y="1427480"/>
            <a:ext cx="3619500" cy="2417445"/>
          </a:xfrm>
          <a:prstGeom prst="rect">
            <a:avLst/>
          </a:prstGeom>
        </p:spPr>
      </p:pic>
      <p:pic>
        <p:nvPicPr>
          <p:cNvPr id="38" name="IM 38"/>
          <p:cNvPicPr/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828280" y="4153535"/>
            <a:ext cx="3619500" cy="22326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深度学习时代（2011-2020）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863600" y="2482215"/>
            <a:ext cx="5182235" cy="3330575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129665" y="2751455"/>
            <a:ext cx="452437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phaGo的成功激发了人们对人工智能的想象空间，研究者开始将深度学习方法应用到物理、材料、化学、医学、天文学、地质学、生物学等各个领域，结合深度神经网络强大的学习能力和各学科积累的知识和数据，拓展各个学科的知识边界，取得了一系列令人惊讶的成果。</a:t>
            </a: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390470" y="353915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449285" y="359797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699137" y="385325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科学领域的交叉融合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0"/>
          <a:srcRect r="695"/>
          <a:stretch>
            <a:fillRect/>
          </a:stretch>
        </p:blipFill>
        <p:spPr>
          <a:xfrm>
            <a:off x="6351905" y="2273935"/>
            <a:ext cx="5494655" cy="30492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08038" y="5384752"/>
            <a:ext cx="43437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在著名的</a:t>
            </a:r>
            <a:r>
              <a:rPr lang="en-US" altLang="zh-CN" sz="1600" dirty="0"/>
              <a:t>《</a:t>
            </a:r>
            <a:r>
              <a:rPr lang="zh-CN" altLang="en-US" sz="1600" dirty="0"/>
              <a:t>自然</a:t>
            </a:r>
            <a:r>
              <a:rPr lang="en-US" altLang="zh-CN" sz="1600" dirty="0"/>
              <a:t>-</a:t>
            </a:r>
            <a:r>
              <a:rPr lang="zh-CN" altLang="en-US" sz="1600" dirty="0"/>
              <a:t>机器智能</a:t>
            </a:r>
            <a:r>
              <a:rPr lang="en-US" altLang="zh-CN" sz="1600" dirty="0"/>
              <a:t>》</a:t>
            </a:r>
            <a:r>
              <a:rPr lang="zh-CN" altLang="en-US" sz="1600" dirty="0"/>
              <a:t>杂志中，绝大多数文章涉及与人工智能相关的跨学科研究。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深度学习时代（2011-2020）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3085465"/>
            <a:ext cx="4624705" cy="1684655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3354705"/>
            <a:ext cx="4081780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例如，DeepMind的AlphaFold系统可以预测蛋白质的空间结构，彻底改变了分子生物学研究。</a:t>
            </a: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413965" y="340199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472780" y="346081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722632" y="371609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科学领域的交叉融合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44" name="IM 44"/>
          <p:cNvPicPr/>
          <p:nvPr>
            <p:custDataLst>
              <p:tags r:id="rId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216650" y="1716405"/>
            <a:ext cx="5405120" cy="35788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313805" y="5320665"/>
            <a:ext cx="4911090" cy="1076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Alphafold3 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可以预测生物分子相互作用的结果。图中蓝色部分是蛋白质分子，粉红色部分是核酸子，黄色小球是离子。灰色部分是实验得到的结果，彩色部分是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AlphaFold3 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预测的结果。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大模型时代（2020－今）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454910"/>
            <a:ext cx="6667500" cy="4235450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724150"/>
            <a:ext cx="622871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2017年，谷歌的研究者提出了一种称为Transformer的神经网络架构，可以对长序列进行学习。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2018年，OpenAI的研究者基于Transformer提出了一种称为GPT（Generative Pretrained Transformer）序训练语言模型，这一模型可以通过很长的历史信息预测这一个词。GPT模型用40G文本数据训练，参数达1.17亿，历史信息包括512个Token（每个英文单词依长度不同包含1—3个Token）。因为模型体积和训练数据都很庞大，人们形象地称之为大语言模型（LLM）。</a:t>
            </a:r>
            <a:endParaRPr lang="zh-CN" altLang="en-US" sz="20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64155" y="394301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22970" y="400183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72822" y="425711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Transformer架构与GPT模型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48" name="IM 48"/>
          <p:cNvPicPr/>
          <p:nvPr>
            <p:custDataLst>
              <p:tags r:id="rId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43875" y="2667635"/>
            <a:ext cx="3709035" cy="264096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41055" y="5308600"/>
            <a:ext cx="311531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OpenAI 2022 年推出 ChatGPT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大模型时代（2020－今）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454910"/>
            <a:ext cx="6667500" cy="3930650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724150"/>
            <a:ext cx="622871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大语言模型具有强大的语言理解能力和生成能力，不仅可以和人顺畅地聊天，还可以写小说、做翻译、提出建议、润色论文等等，表现出强大的智能。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0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2022年底，OpenAI发布了ChatGPT为商用名的GPT- 3.5版本，其强大的能力引起轰动，两个月内注册用户达到1亿。除了在理解和生成人类语言方面取得惊人进展，深度学习还在图像和视频生成领域取得巨大成功。例如，OpenAI的DALL·E可以生成逼真、高清的图片，Sora可以生成长达一分钟的高清视频。</a:t>
            </a:r>
            <a:endParaRPr lang="zh-CN" altLang="en-US" sz="20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53995" y="318355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12810" y="324237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62662" y="349765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生成式人工智能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50" name="IM 50"/>
          <p:cNvPicPr/>
          <p:nvPr>
            <p:custDataLst>
              <p:tags r:id="rId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557895" y="1136015"/>
            <a:ext cx="2395220" cy="25101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061960" y="3823335"/>
            <a:ext cx="3910330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6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大语言模型写作文的例子</a:t>
            </a:r>
            <a:endParaRPr lang="zh-CN" altLang="en-US" sz="16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6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我：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你是个科学家，写一个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50 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字的短文，描述一个会飞的房子。</a:t>
            </a:r>
            <a:r>
              <a:rPr lang="en-US" altLang="zh-CN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6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r>
              <a:rPr lang="zh-CN" altLang="en-US" sz="16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在高效能源与反重力技术的驱动下会飞的房子悬浮于空中，自主航行。它们配备智能导航系统，可避开恶劣天气，追随阳光和清新空气，让居住环境随着人类需求动态变化。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大模型时代（2020－今）</a:t>
            </a:r>
          </a:p>
        </p:txBody>
      </p:sp>
      <p:sp>
        <p:nvSpPr>
          <p:cNvPr id="9" name="标题 1"/>
          <p:cNvSpPr txBox="1"/>
          <p:nvPr>
            <p:custDataLst>
              <p:tags r:id="rId1"/>
            </p:custDataLst>
          </p:nvPr>
        </p:nvSpPr>
        <p:spPr>
          <a:xfrm>
            <a:off x="1137285" y="2454910"/>
            <a:ext cx="6667500" cy="4140835"/>
          </a:xfrm>
          <a:prstGeom prst="roundRect">
            <a:avLst>
              <a:gd name="adj" fmla="val 3877"/>
            </a:avLst>
          </a:prstGeom>
          <a:noFill/>
          <a:ln w="12700" cap="sq">
            <a:solidFill>
              <a:schemeClr val="accent1"/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>
            <p:custDataLst>
              <p:tags r:id="rId2"/>
            </p:custDataLst>
          </p:nvPr>
        </p:nvSpPr>
        <p:spPr>
          <a:xfrm>
            <a:off x="1403350" y="2724150"/>
            <a:ext cx="6228715" cy="347853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研究者正试图将文、音、图等多种信息交由一个统一的模型处理，这种模型称为“多模态大模型”。</a:t>
            </a:r>
          </a:p>
          <a:p>
            <a:pPr marL="306070" indent="-306070" algn="just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accent2"/>
              </a:buClr>
              <a:buSzPct val="92000"/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例如，OpenAI在2024年4月发布的GPT- 4o就是个集视、听、读、写为一身的多模态大模型，这种模型可以和人通过语音、视频等方式自由交流，就像一个聪明的朋友，什么问题都可以向它请教。</a:t>
            </a:r>
          </a:p>
        </p:txBody>
      </p:sp>
      <p:sp>
        <p:nvSpPr>
          <p:cNvPr id="11" name="标题 1"/>
          <p:cNvSpPr txBox="1"/>
          <p:nvPr>
            <p:custDataLst>
              <p:tags r:id="rId3"/>
            </p:custDataLst>
          </p:nvPr>
        </p:nvSpPr>
        <p:spPr>
          <a:xfrm>
            <a:off x="667965" y="3432478"/>
            <a:ext cx="954157" cy="954157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>
            <p:custDataLst>
              <p:tags r:id="rId4"/>
            </p:custDataLst>
          </p:nvPr>
        </p:nvSpPr>
        <p:spPr>
          <a:xfrm>
            <a:off x="726780" y="3491293"/>
            <a:ext cx="836526" cy="836526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0"/>
          </a:gradFill>
          <a:ln w="12700" cap="sq">
            <a:solidFill>
              <a:schemeClr val="accent1">
                <a:lumMod val="40000"/>
                <a:lumOff val="60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5" name="标题 1"/>
          <p:cNvSpPr txBox="1"/>
          <p:nvPr>
            <p:custDataLst>
              <p:tags r:id="rId5"/>
            </p:custDataLst>
          </p:nvPr>
        </p:nvSpPr>
        <p:spPr>
          <a:xfrm>
            <a:off x="976632" y="3746578"/>
            <a:ext cx="336823" cy="32595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>
            <p:custDataLst>
              <p:tags r:id="rId6"/>
            </p:custDataLst>
          </p:nvPr>
        </p:nvSpPr>
        <p:spPr>
          <a:xfrm>
            <a:off x="1245358" y="1584150"/>
            <a:ext cx="8171180" cy="655320"/>
          </a:xfrm>
          <a:prstGeom prst="roundRect">
            <a:avLst>
              <a:gd name="adj" fmla="val 13854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80000">
                <a:schemeClr val="bg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>
            <p:custDataLst>
              <p:tags r:id="rId7"/>
            </p:custDataLst>
          </p:nvPr>
        </p:nvSpPr>
        <p:spPr>
          <a:xfrm>
            <a:off x="1576097" y="171672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en-US" altLang="zh-CN" sz="2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多模态大模型</a:t>
            </a:r>
            <a:endParaRPr kumimoji="1" lang="zh-CN" altLang="en-US" sz="280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18" name="标题 1"/>
          <p:cNvSpPr txBox="1"/>
          <p:nvPr>
            <p:custDataLst>
              <p:tags r:id="rId8"/>
            </p:custDataLst>
          </p:nvPr>
        </p:nvSpPr>
        <p:spPr>
          <a:xfrm rot="3301400" flipH="1">
            <a:off x="870615" y="1714320"/>
            <a:ext cx="653381" cy="436022"/>
          </a:xfrm>
          <a:custGeom>
            <a:avLst/>
            <a:gdLst>
              <a:gd name="connsiteX0" fmla="*/ 362469 w 653381"/>
              <a:gd name="connsiteY0" fmla="*/ 4241 h 436022"/>
              <a:gd name="connsiteX1" fmla="*/ 396364 w 653381"/>
              <a:gd name="connsiteY1" fmla="*/ 61368 h 436022"/>
              <a:gd name="connsiteX2" fmla="*/ 396732 w 653381"/>
              <a:gd name="connsiteY2" fmla="*/ 137992 h 436022"/>
              <a:gd name="connsiteX3" fmla="*/ 572317 w 653381"/>
              <a:gd name="connsiteY3" fmla="*/ 137992 h 436022"/>
              <a:gd name="connsiteX4" fmla="*/ 653381 w 653381"/>
              <a:gd name="connsiteY4" fmla="*/ 219056 h 436022"/>
              <a:gd name="connsiteX5" fmla="*/ 572317 w 653381"/>
              <a:gd name="connsiteY5" fmla="*/ 300120 h 436022"/>
              <a:gd name="connsiteX6" fmla="*/ 397511 w 653381"/>
              <a:gd name="connsiteY6" fmla="*/ 300120 h 436022"/>
              <a:gd name="connsiteX7" fmla="*/ 397862 w 653381"/>
              <a:gd name="connsiteY7" fmla="*/ 373034 h 436022"/>
              <a:gd name="connsiteX8" fmla="*/ 305140 w 653381"/>
              <a:gd name="connsiteY8" fmla="*/ 427039 h 436022"/>
              <a:gd name="connsiteX9" fmla="*/ 33218 w 653381"/>
              <a:gd name="connsiteY9" fmla="*/ 271065 h 436022"/>
              <a:gd name="connsiteX10" fmla="*/ 33021 w 653381"/>
              <a:gd name="connsiteY10" fmla="*/ 163763 h 436022"/>
              <a:gd name="connsiteX11" fmla="*/ 302805 w 653381"/>
              <a:gd name="connsiteY11" fmla="*/ 7703 h 436022"/>
              <a:gd name="connsiteX12" fmla="*/ 362469 w 653381"/>
              <a:gd name="connsiteY12" fmla="*/ 4241 h 436022"/>
            </a:gdLst>
            <a:ahLst/>
            <a:cxnLst/>
            <a:rect l="l" t="t" r="r" b="b"/>
            <a:pathLst>
              <a:path w="653381" h="436022">
                <a:moveTo>
                  <a:pt x="362469" y="4241"/>
                </a:moveTo>
                <a:cubicBezTo>
                  <a:pt x="378628" y="10999"/>
                  <a:pt x="392701" y="27110"/>
                  <a:pt x="396364" y="61368"/>
                </a:cubicBezTo>
                <a:lnTo>
                  <a:pt x="396732" y="137992"/>
                </a:lnTo>
                <a:lnTo>
                  <a:pt x="572317" y="137992"/>
                </a:lnTo>
                <a:cubicBezTo>
                  <a:pt x="617087" y="137992"/>
                  <a:pt x="653381" y="174286"/>
                  <a:pt x="653381" y="219056"/>
                </a:cubicBezTo>
                <a:cubicBezTo>
                  <a:pt x="653381" y="263826"/>
                  <a:pt x="617087" y="300120"/>
                  <a:pt x="572317" y="300120"/>
                </a:cubicBezTo>
                <a:lnTo>
                  <a:pt x="397511" y="300120"/>
                </a:lnTo>
                <a:lnTo>
                  <a:pt x="397862" y="373034"/>
                </a:lnTo>
                <a:cubicBezTo>
                  <a:pt x="397862" y="373034"/>
                  <a:pt x="389002" y="464424"/>
                  <a:pt x="305140" y="427039"/>
                </a:cubicBezTo>
                <a:lnTo>
                  <a:pt x="33218" y="271065"/>
                </a:lnTo>
                <a:cubicBezTo>
                  <a:pt x="33218" y="271065"/>
                  <a:pt x="-41392" y="217550"/>
                  <a:pt x="33021" y="163763"/>
                </a:cubicBezTo>
                <a:lnTo>
                  <a:pt x="302805" y="7703"/>
                </a:lnTo>
                <a:cubicBezTo>
                  <a:pt x="302805" y="7703"/>
                  <a:pt x="335536" y="-7020"/>
                  <a:pt x="362469" y="4241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pic>
        <p:nvPicPr>
          <p:cNvPr id="52" name="IM 52"/>
          <p:cNvPicPr/>
          <p:nvPr>
            <p:custDataLst>
              <p:tags r:id="rId9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181975" y="598805"/>
            <a:ext cx="3171825" cy="2703830"/>
          </a:xfrm>
          <a:prstGeom prst="rect">
            <a:avLst/>
          </a:prstGeom>
        </p:spPr>
      </p:pic>
      <p:pic>
        <p:nvPicPr>
          <p:cNvPr id="54" name="IM 54"/>
          <p:cNvPicPr/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8181975" y="3552190"/>
            <a:ext cx="3172460" cy="26511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757285" y="6203315"/>
            <a:ext cx="202184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DALL·E</a:t>
            </a:r>
            <a:r>
              <a:rPr lang="zh-CN" altLang="en-US" sz="16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生成的图片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rgbClr val="1F2329"/>
                </a:solidFill>
                <a:latin typeface="Noto Sans SC"/>
              </a:rPr>
              <a:t>思考与活动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630" y="2221865"/>
            <a:ext cx="4572635" cy="4572635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 rot="5400000">
            <a:off x="2385695" y="846455"/>
            <a:ext cx="4126865" cy="5814060"/>
          </a:xfrm>
          <a:custGeom>
            <a:avLst/>
            <a:gdLst>
              <a:gd name="connsiteX0" fmla="*/ 0 w 3589020"/>
              <a:gd name="connsiteY0" fmla="*/ 4257435 h 4855617"/>
              <a:gd name="connsiteX1" fmla="*/ 0 w 3589020"/>
              <a:gd name="connsiteY1" fmla="*/ 923709 h 4855617"/>
              <a:gd name="connsiteX2" fmla="*/ 598182 w 3589020"/>
              <a:gd name="connsiteY2" fmla="*/ 325527 h 4855617"/>
              <a:gd name="connsiteX3" fmla="*/ 1554241 w 3589020"/>
              <a:gd name="connsiteY3" fmla="*/ 325527 h 4855617"/>
              <a:gd name="connsiteX4" fmla="*/ 1794510 w 3589020"/>
              <a:gd name="connsiteY4" fmla="*/ 0 h 4855617"/>
              <a:gd name="connsiteX5" fmla="*/ 2034779 w 3589020"/>
              <a:gd name="connsiteY5" fmla="*/ 325527 h 4855617"/>
              <a:gd name="connsiteX6" fmla="*/ 2990838 w 3589020"/>
              <a:gd name="connsiteY6" fmla="*/ 325527 h 4855617"/>
              <a:gd name="connsiteX7" fmla="*/ 3589020 w 3589020"/>
              <a:gd name="connsiteY7" fmla="*/ 923709 h 4855617"/>
              <a:gd name="connsiteX8" fmla="*/ 3589020 w 3589020"/>
              <a:gd name="connsiteY8" fmla="*/ 4257435 h 4855617"/>
              <a:gd name="connsiteX9" fmla="*/ 2990838 w 3589020"/>
              <a:gd name="connsiteY9" fmla="*/ 4855617 h 4855617"/>
              <a:gd name="connsiteX10" fmla="*/ 598182 w 3589020"/>
              <a:gd name="connsiteY10" fmla="*/ 4855617 h 4855617"/>
              <a:gd name="connsiteX11" fmla="*/ 0 w 3589020"/>
              <a:gd name="connsiteY11" fmla="*/ 4257435 h 4855617"/>
            </a:gdLst>
            <a:ahLst/>
            <a:cxnLst/>
            <a:rect l="l" t="t" r="r" b="b"/>
            <a:pathLst>
              <a:path w="3589020" h="4855617">
                <a:moveTo>
                  <a:pt x="0" y="4257435"/>
                </a:moveTo>
                <a:lnTo>
                  <a:pt x="0" y="923709"/>
                </a:lnTo>
                <a:cubicBezTo>
                  <a:pt x="0" y="593342"/>
                  <a:pt x="267815" y="325527"/>
                  <a:pt x="598182" y="325527"/>
                </a:cubicBezTo>
                <a:lnTo>
                  <a:pt x="1554241" y="325527"/>
                </a:lnTo>
                <a:lnTo>
                  <a:pt x="1794510" y="0"/>
                </a:lnTo>
                <a:lnTo>
                  <a:pt x="2034779" y="325527"/>
                </a:lnTo>
                <a:lnTo>
                  <a:pt x="2990838" y="325527"/>
                </a:lnTo>
                <a:cubicBezTo>
                  <a:pt x="3321205" y="325527"/>
                  <a:pt x="3589020" y="593342"/>
                  <a:pt x="3589020" y="923709"/>
                </a:cubicBezTo>
                <a:lnTo>
                  <a:pt x="3589020" y="4257435"/>
                </a:lnTo>
                <a:cubicBezTo>
                  <a:pt x="3589020" y="4587802"/>
                  <a:pt x="3321205" y="4855617"/>
                  <a:pt x="2990838" y="4855617"/>
                </a:cubicBezTo>
                <a:lnTo>
                  <a:pt x="598182" y="4855617"/>
                </a:lnTo>
                <a:cubicBezTo>
                  <a:pt x="267815" y="4855617"/>
                  <a:pt x="0" y="4587802"/>
                  <a:pt x="0" y="4257435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39495" y="2185670"/>
            <a:ext cx="5478780" cy="3250565"/>
          </a:xfrm>
          <a:prstGeom prst="round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sz="half" idx="1"/>
          </p:nvPr>
        </p:nvSpPr>
        <p:spPr>
          <a:xfrm>
            <a:off x="1373505" y="2286000"/>
            <a:ext cx="5057775" cy="2940050"/>
          </a:xfrm>
        </p:spPr>
        <p:txBody>
          <a:bodyPr>
            <a:normAutofit fontScale="90000"/>
          </a:bodyPr>
          <a:lstStyle/>
          <a:p>
            <a:pPr algn="just"/>
            <a:r>
              <a:rPr lang="zh-CN"/>
              <a:t>活动1：AI技术时间轴制作 </a:t>
            </a:r>
          </a:p>
          <a:p>
            <a:pPr algn="just"/>
            <a:r>
              <a:rPr lang="zh-CN"/>
              <a:t>小组任务：  </a:t>
            </a:r>
          </a:p>
          <a:p>
            <a:pPr algn="just"/>
            <a:r>
              <a:rPr lang="zh-CN"/>
              <a:t>用卡片标记1993-2024年AI关键事件（如1997深蓝、2012 AlexNet、2022 ChatGPT）。  </a:t>
            </a:r>
          </a:p>
          <a:p>
            <a:pPr algn="just"/>
            <a:r>
              <a:rPr lang="zh-CN"/>
              <a:t> 讨论：“哪些事件是数据、算力、算法共同作用的结果？”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rgbClr val="1F2329"/>
                </a:solidFill>
                <a:latin typeface="Noto Sans SC"/>
              </a:rPr>
              <a:t>思考与活动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365" y="2053590"/>
            <a:ext cx="4572635" cy="4572635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 rot="5400000">
            <a:off x="2301875" y="798195"/>
            <a:ext cx="5020310" cy="6539865"/>
          </a:xfrm>
          <a:custGeom>
            <a:avLst/>
            <a:gdLst>
              <a:gd name="connsiteX0" fmla="*/ 0 w 3589020"/>
              <a:gd name="connsiteY0" fmla="*/ 4257435 h 4855617"/>
              <a:gd name="connsiteX1" fmla="*/ 0 w 3589020"/>
              <a:gd name="connsiteY1" fmla="*/ 923709 h 4855617"/>
              <a:gd name="connsiteX2" fmla="*/ 598182 w 3589020"/>
              <a:gd name="connsiteY2" fmla="*/ 325527 h 4855617"/>
              <a:gd name="connsiteX3" fmla="*/ 1554241 w 3589020"/>
              <a:gd name="connsiteY3" fmla="*/ 325527 h 4855617"/>
              <a:gd name="connsiteX4" fmla="*/ 1794510 w 3589020"/>
              <a:gd name="connsiteY4" fmla="*/ 0 h 4855617"/>
              <a:gd name="connsiteX5" fmla="*/ 2034779 w 3589020"/>
              <a:gd name="connsiteY5" fmla="*/ 325527 h 4855617"/>
              <a:gd name="connsiteX6" fmla="*/ 2990838 w 3589020"/>
              <a:gd name="connsiteY6" fmla="*/ 325527 h 4855617"/>
              <a:gd name="connsiteX7" fmla="*/ 3589020 w 3589020"/>
              <a:gd name="connsiteY7" fmla="*/ 923709 h 4855617"/>
              <a:gd name="connsiteX8" fmla="*/ 3589020 w 3589020"/>
              <a:gd name="connsiteY8" fmla="*/ 4257435 h 4855617"/>
              <a:gd name="connsiteX9" fmla="*/ 2990838 w 3589020"/>
              <a:gd name="connsiteY9" fmla="*/ 4855617 h 4855617"/>
              <a:gd name="connsiteX10" fmla="*/ 598182 w 3589020"/>
              <a:gd name="connsiteY10" fmla="*/ 4855617 h 4855617"/>
              <a:gd name="connsiteX11" fmla="*/ 0 w 3589020"/>
              <a:gd name="connsiteY11" fmla="*/ 4257435 h 4855617"/>
            </a:gdLst>
            <a:ahLst/>
            <a:cxnLst/>
            <a:rect l="l" t="t" r="r" b="b"/>
            <a:pathLst>
              <a:path w="3589020" h="4855617">
                <a:moveTo>
                  <a:pt x="0" y="4257435"/>
                </a:moveTo>
                <a:lnTo>
                  <a:pt x="0" y="923709"/>
                </a:lnTo>
                <a:cubicBezTo>
                  <a:pt x="0" y="593342"/>
                  <a:pt x="267815" y="325527"/>
                  <a:pt x="598182" y="325527"/>
                </a:cubicBezTo>
                <a:lnTo>
                  <a:pt x="1554241" y="325527"/>
                </a:lnTo>
                <a:lnTo>
                  <a:pt x="1794510" y="0"/>
                </a:lnTo>
                <a:lnTo>
                  <a:pt x="2034779" y="325527"/>
                </a:lnTo>
                <a:lnTo>
                  <a:pt x="2990838" y="325527"/>
                </a:lnTo>
                <a:cubicBezTo>
                  <a:pt x="3321205" y="325527"/>
                  <a:pt x="3589020" y="593342"/>
                  <a:pt x="3589020" y="923709"/>
                </a:cubicBezTo>
                <a:lnTo>
                  <a:pt x="3589020" y="4257435"/>
                </a:lnTo>
                <a:cubicBezTo>
                  <a:pt x="3589020" y="4587802"/>
                  <a:pt x="3321205" y="4855617"/>
                  <a:pt x="2990838" y="4855617"/>
                </a:cubicBezTo>
                <a:lnTo>
                  <a:pt x="598182" y="4855617"/>
                </a:lnTo>
                <a:cubicBezTo>
                  <a:pt x="267815" y="4855617"/>
                  <a:pt x="0" y="4587802"/>
                  <a:pt x="0" y="4257435"/>
                </a:cubicBez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039495" y="2053590"/>
            <a:ext cx="6268085" cy="3986530"/>
          </a:xfrm>
          <a:prstGeom prst="roundRect">
            <a:avLst/>
          </a:prstGeom>
          <a:solidFill>
            <a:schemeClr val="bg1"/>
          </a:solidFill>
          <a:ln w="12700" cap="sq">
            <a:noFill/>
            <a:miter/>
          </a:ln>
          <a:effectLst>
            <a:outerShdw blurRad="63500" sx="102000" sy="102000" algn="ctr" rotWithShape="0">
              <a:schemeClr val="accent1">
                <a:lumMod val="50000"/>
                <a:alpha val="25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sz="half" idx="1"/>
          </p:nvPr>
        </p:nvSpPr>
        <p:spPr>
          <a:xfrm>
            <a:off x="1181100" y="2263140"/>
            <a:ext cx="5860415" cy="3705860"/>
          </a:xfrm>
        </p:spPr>
        <p:txBody>
          <a:bodyPr>
            <a:normAutofit fontScale="25000"/>
          </a:bodyPr>
          <a:lstStyle/>
          <a:p>
            <a:pPr algn="just"/>
            <a:r>
              <a:rPr lang="zh-CN" sz="8800"/>
              <a:t>活动2：生成式AI应用设计 </a:t>
            </a:r>
          </a:p>
          <a:p>
            <a:pPr algn="just"/>
            <a:r>
              <a:rPr lang="zh-CN" sz="8800"/>
              <a:t>任务：  </a:t>
            </a:r>
          </a:p>
          <a:p>
            <a:pPr algn="just"/>
            <a:r>
              <a:rPr lang="zh-CN" sz="8800"/>
              <a:t>每组选择一个领域（如医疗、教育、环保），设计一款生成式AI工具。  </a:t>
            </a:r>
          </a:p>
          <a:p>
            <a:pPr algn="just"/>
            <a:r>
              <a:rPr lang="zh-CN" sz="8800"/>
              <a:t>示例：“AI生态顾问：输入环境数据，生成保护方案并制作宣传视频。”  </a:t>
            </a:r>
          </a:p>
          <a:p>
            <a:pPr algn="just"/>
            <a:r>
              <a:rPr lang="zh-CN" sz="8800"/>
              <a:t>展示与点评：  </a:t>
            </a:r>
          </a:p>
          <a:p>
            <a:pPr algn="just"/>
            <a:r>
              <a:rPr lang="zh-CN" sz="8800"/>
              <a:t>分享设计思路，讨论技术可行性与社会价值。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581025" y="2228215"/>
            <a:ext cx="10199370" cy="3561715"/>
          </a:xfrm>
        </p:spPr>
        <p:txBody>
          <a:bodyPr>
            <a:normAutofit fontScale="90000"/>
          </a:bodyPr>
          <a:lstStyle/>
          <a:p>
            <a:pPr indent="0" algn="just">
              <a:lnSpc>
                <a:spcPct val="135000"/>
              </a:lnSpc>
              <a:buClr>
                <a:srgbClr val="1F2329"/>
              </a:buClr>
              <a:buFont typeface="Wingdings" panose="05000000000000000000" pitchFamily="2" charset="2"/>
              <a:buNone/>
            </a:pPr>
            <a:r>
              <a:rPr kumimoji="1" lang="en-US" altLang="zh-CN">
                <a:ln w="12700">
                  <a:noFill/>
                </a:ln>
                <a:solidFill>
                  <a:srgbClr val="FF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人工智能技术近十年来取得了飞速发展，这一进步可以归因于三个主要因素：</a:t>
            </a:r>
          </a:p>
          <a:p>
            <a:pPr marL="648970" indent="-342900" algn="just">
              <a:lnSpc>
                <a:spcPct val="135000"/>
              </a:lnSpc>
              <a:buClr>
                <a:srgbClr val="1F2329"/>
              </a:buClr>
              <a:buFont typeface="Wingdings" panose="05000000000000000000" pitchFamily="2" charset="2"/>
              <a:buChar char="p"/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海量数据的积累；</a:t>
            </a:r>
          </a:p>
          <a:p>
            <a:pPr marL="648970" indent="-342900" algn="just">
              <a:lnSpc>
                <a:spcPct val="135000"/>
              </a:lnSpc>
              <a:buClr>
                <a:srgbClr val="1F2329"/>
              </a:buClr>
              <a:buFont typeface="Wingdings" panose="05000000000000000000" pitchFamily="2" charset="2"/>
              <a:buChar char="p"/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强大的计算能力；</a:t>
            </a:r>
          </a:p>
          <a:p>
            <a:pPr marL="648970" indent="-342900" algn="just">
              <a:lnSpc>
                <a:spcPct val="135000"/>
              </a:lnSpc>
              <a:buClr>
                <a:srgbClr val="1F2329"/>
              </a:buClr>
              <a:buFont typeface="Wingdings" panose="05000000000000000000" pitchFamily="2" charset="2"/>
              <a:buChar char="p"/>
            </a:pPr>
            <a:r>
              <a:rPr kumimoji="1" lang="en-US" altLang="zh-CN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深度学习算法。</a:t>
            </a:r>
          </a:p>
          <a:p>
            <a:pPr indent="0" algn="just">
              <a:lnSpc>
                <a:spcPct val="135000"/>
              </a:lnSpc>
              <a:buClr>
                <a:srgbClr val="1F2329"/>
              </a:buClr>
              <a:buFont typeface="Wingdings" panose="05000000000000000000" pitchFamily="2" charset="2"/>
              <a:buNone/>
            </a:pPr>
            <a:r>
              <a:rPr kumimoji="1" lang="en-US" altLang="zh-CN">
                <a:ln w="12700">
                  <a:noFill/>
                </a:ln>
                <a:solidFill>
                  <a:srgbClr val="FF0000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  <a:sym typeface="+mn-ea"/>
              </a:rPr>
              <a:t>这三个因素共同推动了当前的人工智能技术革命。未来，人工智能将以通用智能体的形态，逐渐渗透到我们生活的方方面面，并在很多领域带来深刻变革。</a:t>
            </a:r>
            <a:endParaRPr kumimoji="1" lang="en-US" altLang="zh-CN" dirty="0">
              <a:ln w="12700">
                <a:noFill/>
              </a:ln>
              <a:solidFill>
                <a:srgbClr val="FF0000">
                  <a:alpha val="100000"/>
                </a:srgbClr>
              </a:solidFill>
              <a:latin typeface="Source Han Sans CN Bold"/>
              <a:ea typeface="Source Han Sans CN Bold"/>
              <a:cs typeface="Source Han Sans CN Bold"/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rgbClr val="1F2329"/>
                </a:solidFill>
                <a:latin typeface="Noto Sans SC"/>
              </a:rPr>
              <a:t>课程</a:t>
            </a:r>
            <a:r>
              <a:rPr lang="en-US" altLang="zh-CN" sz="4000" b="1" dirty="0" err="1">
                <a:solidFill>
                  <a:srgbClr val="1F2329"/>
                </a:solidFill>
                <a:latin typeface="Noto Sans SC"/>
              </a:rPr>
              <a:t>总结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581025" y="2228215"/>
            <a:ext cx="10772775" cy="1647825"/>
          </a:xfrm>
        </p:spPr>
        <p:txBody>
          <a:bodyPr>
            <a:normAutofit/>
          </a:bodyPr>
          <a:lstStyle/>
          <a:p>
            <a:r>
              <a:t> 撰写一篇短文，分析AI对某一职业（如教师、医生、艺术家）的影响与挑战</a:t>
            </a:r>
            <a:r>
              <a:rPr lang="en-US"/>
              <a:t>。</a:t>
            </a:r>
          </a:p>
          <a:p>
            <a:r>
              <a:rPr lang="zh-CN"/>
              <a:t>思考</a:t>
            </a:r>
            <a:r>
              <a:rPr lang="en-US" altLang="zh-CN"/>
              <a:t>：</a:t>
            </a:r>
            <a:r>
              <a:t>如果AI能预测自然灾害或治愈癌症，世界会怎样？我们需要做哪些准备？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3" name="IM 20"/>
          <p:cNvPicPr/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38250" y="3954145"/>
            <a:ext cx="2924810" cy="2168525"/>
          </a:xfrm>
          <a:prstGeom prst="rect">
            <a:avLst/>
          </a:prstGeom>
        </p:spPr>
      </p:pic>
      <p:pic>
        <p:nvPicPr>
          <p:cNvPr id="24" name="IM 24"/>
          <p:cNvPicPr/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78630" y="3954145"/>
            <a:ext cx="3649980" cy="2168525"/>
          </a:xfrm>
          <a:prstGeom prst="rect">
            <a:avLst/>
          </a:prstGeom>
        </p:spPr>
      </p:pic>
      <p:pic>
        <p:nvPicPr>
          <p:cNvPr id="38" name="IM 38"/>
          <p:cNvPicPr/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046720" y="3954145"/>
            <a:ext cx="3463290" cy="21685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c1NjFhMjNjZTNmM2FjYWUzYmU1NDk2NDc0OGE0Zm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5973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3"/>
  <p:tag name="KSO_WM_TEMPLATE_CATEGORY" val="custom"/>
  <p:tag name="KSO_WM_UNIT_VALUE" val="30"/>
  <p:tag name="KSO_WM_UNIT_PRESET_TEXT" val="金山办公软件有限公司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ID" val="custom20235973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973"/>
  <p:tag name="KSO_WM_TEMPLATE_CATEGORY" val="custom"/>
  <p:tag name="KSO_WM_UNIT_VALUE" val="30"/>
  <p:tag name="KSO_WM_UNIT_PRESET_TEXT" val="金山办公软件有限公司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1.67606299212602,&quot;left&quot;:158.33417322834646,&quot;top&quot;:278.2158267716535,&quot;width&quot;:642.355511811023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1.67606299212602,&quot;left&quot;:158.33417322834646,&quot;top&quot;:278.2158267716535,&quot;width&quot;:642.355511811023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1.67606299212602,&quot;left&quot;:158.33417322834646,&quot;top&quot;:278.2158267716535,&quot;width&quot;:642.355511811023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1.67606299212602,&quot;left&quot;:158.33417322834646,&quot;top&quot;:278.2158267716535,&quot;width&quot;:642.355511811023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清华简约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清华简约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清华简约主题-扁平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清华简约主题-扁平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清华简约主题-扁平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清华简约</Template>
  <TotalTime>0</TotalTime>
  <Words>1715</Words>
  <Application>Microsoft Macintosh PowerPoint</Application>
  <PresentationFormat>Widescreen</PresentationFormat>
  <Paragraphs>98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等线</vt:lpstr>
      <vt:lpstr>微软雅黑</vt:lpstr>
      <vt:lpstr>Noto Sans SC</vt:lpstr>
      <vt:lpstr>OPPOSans H</vt:lpstr>
      <vt:lpstr>Source Han Sans CN Bold</vt:lpstr>
      <vt:lpstr>Gill Sans MT</vt:lpstr>
      <vt:lpstr>Wingdings</vt:lpstr>
      <vt:lpstr>Wingdings 2</vt:lpstr>
      <vt:lpstr>清华简约</vt:lpstr>
      <vt:lpstr>1_清华简约</vt:lpstr>
      <vt:lpstr>清华简约主题-扁平-16:9</vt:lpstr>
      <vt:lpstr>1_清华简约主题-扁平-16:9</vt:lpstr>
      <vt:lpstr>2_清华简约主题-扁平-16:9</vt:lpstr>
      <vt:lpstr>第一章：人工智能概述</vt:lpstr>
      <vt:lpstr>第八节：人工智能发展史（2）</vt:lpstr>
      <vt:lpstr>PowerPoint Presentation</vt:lpstr>
      <vt:lpstr>目录</vt:lpstr>
      <vt:lpstr>情境创设</vt:lpstr>
      <vt:lpstr>务实与复苏（1993-2011）</vt:lpstr>
      <vt:lpstr>PowerPoint Presentation</vt:lpstr>
      <vt:lpstr>务实与复苏（1993-2011）</vt:lpstr>
      <vt:lpstr>务实与复苏（1993-2011）</vt:lpstr>
      <vt:lpstr>务实与复苏（1993-2011）</vt:lpstr>
      <vt:lpstr>深度学习时代（2011-2020）</vt:lpstr>
      <vt:lpstr>深度学习时代（2011-2020）</vt:lpstr>
      <vt:lpstr>深度学习时代（2011-2020）</vt:lpstr>
      <vt:lpstr>深度学习时代（2011-2020）</vt:lpstr>
      <vt:lpstr>深度学习时代（2011-2020）</vt:lpstr>
      <vt:lpstr>大模型时代（2020－今）</vt:lpstr>
      <vt:lpstr>大模型时代（2020－今）</vt:lpstr>
      <vt:lpstr>大模型时代（2020－今）</vt:lpstr>
      <vt:lpstr>思考与活动</vt:lpstr>
      <vt:lpstr>思考与活动</vt:lpstr>
      <vt:lpstr>课程总结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第一节：智能机器的梦想</dc:title>
  <dc:creator>wangd</dc:creator>
  <cp:lastModifiedBy>Yuqing Long</cp:lastModifiedBy>
  <cp:revision>33</cp:revision>
  <dcterms:created xsi:type="dcterms:W3CDTF">2025-01-25T10:29:00Z</dcterms:created>
  <dcterms:modified xsi:type="dcterms:W3CDTF">2025-11-29T06:01:07Z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088E8478E49E479190E246C75FDF5DB6_12</vt:lpwstr>
  </property>
  <property fmtid="{D5CDD505-2E9C-101B-9397-08002B2CF9AE}" pid="3" name="KSOProductBuildVer">
    <vt:lpwstr>2052-12.1.0.19770</vt:lpwstr>
  </property>
</Properties>
</file>